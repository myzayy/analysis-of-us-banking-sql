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76" r:id="rId12"/>
    <p:sldId id="265" r:id="rId13"/>
    <p:sldId id="277" r:id="rId14"/>
    <p:sldId id="266" r:id="rId15"/>
    <p:sldId id="278" r:id="rId16"/>
    <p:sldId id="267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>
        <p:scale>
          <a:sx n="66" d="100"/>
          <a:sy n="66" d="100"/>
        </p:scale>
        <p:origin x="1155" y="6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3220-218B-CB83-7F33-CCF23EAAB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CD9C8-F6A2-FC19-46E2-052ED6396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4516D-7158-3FBF-7FE3-54737D05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0B76F-7F48-2E92-063E-BBD9A8D7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2E8AF-ECFC-C7A3-AFD9-8C129AE8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7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AA9F-789C-E3DE-CCC2-AB0A98F1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7CDE-F58E-6EB0-3D1F-284ADA3F8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4CE25-37EE-4F00-E8B2-B69E96A7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AAFFC-230A-22E5-007A-C63D457D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EE567-C184-635C-CF6D-C3C2F7E8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6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B1DA-F065-61C7-3AB2-AA3909764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1AC6-1538-E9E6-D67D-5D1C55C35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3649-388A-2457-376D-9A902D49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2DFD6-ADEF-A69F-0AC7-67B65779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2068E-2CA7-BC4D-ADC0-E74DCED1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8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7442-3432-CFCE-2C8A-1393A1DE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778DE-010E-BA3E-4E90-D324C638C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23A9C-9F8B-2712-ABD7-D4F007494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82A86-C5C2-AC11-9941-1EAFCB26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6D9B5-F75A-891D-1073-3D570C87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F6AA0-ADEE-E7A3-573F-A2F9C2BA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8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019F-E1E4-A3BA-F9CE-EEA5BEA5F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F294-BEBC-0982-5155-1A30FA1E4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FB665-2896-DECC-9659-49C32656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3C274-3A6D-982D-0700-DD18EDCB6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0959C-1F52-F5A8-FB5B-46878AAB3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4E88B-F17F-1479-C94C-5C0C062D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1515B-DFFB-2FCF-1953-66CA37CE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15792-859F-E9A3-11F8-1ED10FB9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AD71-8138-4A9F-2C2E-4A3820F8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65CC8-A8BD-BC56-31D6-AC562255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B80CE-0290-7E1C-9E99-72509B7D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1B334-EC22-07F8-85D5-59F8EA79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4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835BF-6D03-9DFF-3C38-EE3A0AAA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4CD91-2EA7-68F9-5C30-F4FBCAB3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BDCA8-655D-CC9F-72EB-AD8CBE1E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7F68-49E7-797A-2CBB-94580C46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8458-EE18-4BAA-82D7-FDFB24FB8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ECB74-ADD0-57CF-BF00-538353860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E2C5D-B971-228B-3416-118059CF1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53DBC-5DCE-4213-9825-7DE6B9A6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FA210-A05F-1D42-CF29-A2E63FFE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5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7FC4-6F46-40D5-E75D-0965F58E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F14C5A-9B01-3320-3209-97F08D95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5D86D-87AC-9581-38AF-8102C3FAA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FB2A8-7CE1-6BD4-E5D8-17938092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35582-4A56-C102-122E-584BAF28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E224B-CF4E-F103-0A09-57C01165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0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6227-6C94-175C-AC1C-C723881E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D460B-FB8D-0DE9-9EB7-D21F30CFF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25548-C92A-4D0C-8D8C-FF6A6364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6E9EF-DB9E-6848-A8A7-239DC615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CAC15-1B45-B282-97AF-3E03393C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1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9519B-70B9-E161-1A97-056EF6BF8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F17A6-2C8A-53AA-972B-D845B8DAF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B2DED-5C54-8F65-DC37-D3D998D0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BDAC6-BBEF-B010-322C-2B050E12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0E15-7083-EEB1-7901-C7CE4BC5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7D0F4-834E-F010-A44F-165AAF1D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6DA70-AE4E-D036-1EE1-F6861569B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B87FB-771B-D636-1195-439C9B47C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488BF-47F6-4837-BF76-BE8DBBEAEE7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67D6-4C36-4883-AEAD-2B98358A9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1200-1C95-87BC-E9B3-36C66ABD4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1C2D2-7EF1-40A2-A5FC-84EAB4405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8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203F-FBE2-C34C-5DD2-317DA9186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3744"/>
            <a:ext cx="9144000" cy="2387600"/>
          </a:xfrm>
        </p:spPr>
        <p:txBody>
          <a:bodyPr/>
          <a:lstStyle/>
          <a:p>
            <a:r>
              <a:rPr lang="en-US" dirty="0"/>
              <a:t>Analysis of US Banking</a:t>
            </a:r>
            <a:br>
              <a:rPr lang="en-US" dirty="0"/>
            </a:br>
            <a:r>
              <a:rPr lang="en-US" dirty="0"/>
              <a:t> </a:t>
            </a:r>
            <a:r>
              <a:rPr lang="en-US" sz="3600" dirty="0"/>
              <a:t>Projekt ELT v Snowflake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C459D-B2DA-1D79-8800-04ACC94E7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8345" y="5440463"/>
            <a:ext cx="9144000" cy="1655762"/>
          </a:xfrm>
        </p:spPr>
        <p:txBody>
          <a:bodyPr/>
          <a:lstStyle/>
          <a:p>
            <a:r>
              <a:rPr lang="en-US" dirty="0"/>
              <a:t>Maksym </a:t>
            </a:r>
            <a:r>
              <a:rPr lang="en-US" dirty="0" err="1"/>
              <a:t>Zaiets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97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FEB4F-C0D2-2BF5-5019-5FCEDF62F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Data Source &amp; ERD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D424811-8C90-53A2-5CAD-8B682629A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700" y="2868371"/>
            <a:ext cx="5150277" cy="21759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89AB8-2C68-1D1E-3BF9-7EC3A9DEB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81" y="2389218"/>
            <a:ext cx="566211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Ako </a:t>
            </a:r>
            <a:r>
              <a:rPr lang="en-US" dirty="0" err="1"/>
              <a:t>zdroj</a:t>
            </a:r>
            <a:r>
              <a:rPr lang="en-US" dirty="0"/>
              <a:t> </a:t>
            </a:r>
            <a:r>
              <a:rPr lang="en-US" dirty="0" err="1"/>
              <a:t>bol</a:t>
            </a:r>
            <a:r>
              <a:rPr lang="en-US" dirty="0"/>
              <a:t> </a:t>
            </a:r>
            <a:r>
              <a:rPr lang="en-US" dirty="0" err="1"/>
              <a:t>použitý</a:t>
            </a:r>
            <a:r>
              <a:rPr lang="en-US" dirty="0"/>
              <a:t> </a:t>
            </a:r>
            <a:r>
              <a:rPr lang="en-US" dirty="0" err="1"/>
              <a:t>verejný</a:t>
            </a:r>
            <a:r>
              <a:rPr lang="en-US" dirty="0"/>
              <a:t> dataset FDIC (</a:t>
            </a:r>
            <a:r>
              <a:rPr lang="en-US" dirty="0" err="1"/>
              <a:t>Federálnej</a:t>
            </a:r>
            <a:r>
              <a:rPr lang="en-US" dirty="0"/>
              <a:t> </a:t>
            </a:r>
            <a:r>
              <a:rPr lang="en-US" dirty="0" err="1"/>
              <a:t>korporácie</a:t>
            </a:r>
            <a:r>
              <a:rPr lang="en-US" dirty="0"/>
              <a:t> pre </a:t>
            </a:r>
            <a:r>
              <a:rPr lang="en-US" dirty="0" err="1"/>
              <a:t>poistenie</a:t>
            </a:r>
            <a:r>
              <a:rPr lang="en-US" dirty="0"/>
              <a:t> </a:t>
            </a:r>
            <a:r>
              <a:rPr lang="en-US" dirty="0" err="1"/>
              <a:t>vkladov</a:t>
            </a:r>
            <a:r>
              <a:rPr lang="en-US" dirty="0"/>
              <a:t>).</a:t>
            </a: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pl-PL" dirty="0"/>
              <a:t>Všetky údaje boli umiestnené v jednej tabuľke „Flat Table“.</a:t>
            </a:r>
            <a:r>
              <a:rPr lang="uk-UA" dirty="0"/>
              <a:t> </a:t>
            </a:r>
            <a:r>
              <a:rPr lang="en-US" dirty="0" err="1"/>
              <a:t>kde</a:t>
            </a:r>
            <a:r>
              <a:rPr lang="en-US" dirty="0"/>
              <a:t> </a:t>
            </a:r>
            <a:r>
              <a:rPr lang="en-US" dirty="0" err="1"/>
              <a:t>boli</a:t>
            </a:r>
            <a:r>
              <a:rPr lang="en-US" dirty="0"/>
              <a:t> </a:t>
            </a:r>
            <a:r>
              <a:rPr lang="en-US" dirty="0" err="1"/>
              <a:t>finančné</a:t>
            </a:r>
            <a:r>
              <a:rPr lang="en-US" dirty="0"/>
              <a:t> </a:t>
            </a:r>
            <a:r>
              <a:rPr lang="en-US" dirty="0" err="1"/>
              <a:t>údaje</a:t>
            </a:r>
            <a:r>
              <a:rPr lang="en-US" dirty="0"/>
              <a:t> </a:t>
            </a:r>
            <a:r>
              <a:rPr lang="en-US" dirty="0" err="1"/>
              <a:t>uložené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text a </a:t>
            </a:r>
            <a:r>
              <a:rPr lang="en-US" dirty="0" err="1"/>
              <a:t>názvy</a:t>
            </a:r>
            <a:r>
              <a:rPr lang="en-US" dirty="0"/>
              <a:t> </a:t>
            </a:r>
            <a:r>
              <a:rPr lang="en-US" dirty="0" err="1"/>
              <a:t>bánkov</a:t>
            </a:r>
            <a:r>
              <a:rPr lang="en-US" dirty="0"/>
              <a:t> </a:t>
            </a:r>
            <a:r>
              <a:rPr lang="en-US" dirty="0" err="1"/>
              <a:t>boli</a:t>
            </a:r>
            <a:r>
              <a:rPr lang="en-US" dirty="0"/>
              <a:t> </a:t>
            </a:r>
            <a:r>
              <a:rPr lang="en-US" dirty="0" err="1"/>
              <a:t>duplicitné</a:t>
            </a:r>
            <a:r>
              <a:rPr lang="en-US" dirty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07531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47C8-9642-2A8F-CE0C-52F2AA15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ERD </a:t>
            </a:r>
            <a:r>
              <a:rPr lang="en-US" dirty="0" err="1"/>
              <a:t>vizualizácia</a:t>
            </a:r>
            <a:r>
              <a:rPr lang="en-US" dirty="0"/>
              <a:t> </a:t>
            </a:r>
            <a:r>
              <a:rPr lang="en-US" dirty="0" err="1"/>
              <a:t>stiahnutých</a:t>
            </a:r>
            <a:r>
              <a:rPr lang="en-US" dirty="0"/>
              <a:t> </a:t>
            </a:r>
            <a:r>
              <a:rPr lang="en-US" dirty="0" err="1"/>
              <a:t>údajov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A45915-A9AB-B1E5-D908-33D2B36E06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4" t="17166" r="17361" b="14213"/>
          <a:stretch>
            <a:fillRect/>
          </a:stretch>
        </p:blipFill>
        <p:spPr bwMode="auto">
          <a:xfrm>
            <a:off x="4069235" y="1844675"/>
            <a:ext cx="4053530" cy="461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32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5C06CD-EEB2-1247-8D3F-E7395CF7CBE5}"/>
              </a:ext>
            </a:extLst>
          </p:cNvPr>
          <p:cNvSpPr/>
          <p:nvPr/>
        </p:nvSpPr>
        <p:spPr>
          <a:xfrm>
            <a:off x="5179039" y="0"/>
            <a:ext cx="7012961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648C2-7CCD-6257-31A7-DE2C422B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Star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A40E7-0809-10F9-E66F-09F22884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" y="1825625"/>
            <a:ext cx="5159142" cy="4351338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Na optimalizáciu analýzy bola navrhnutá Star Schema.</a:t>
            </a:r>
          </a:p>
          <a:p>
            <a:r>
              <a:rPr lang="en-US" sz="2400" u="sng" dirty="0"/>
              <a:t>(</a:t>
            </a:r>
            <a:r>
              <a:rPr lang="en-US" sz="2400" u="sng" dirty="0" err="1"/>
              <a:t>fact_bank_performance</a:t>
            </a:r>
            <a:r>
              <a:rPr lang="en-US" sz="2400" u="sng" dirty="0"/>
              <a:t>) </a:t>
            </a:r>
            <a:r>
              <a:rPr lang="en-US" sz="2400" dirty="0"/>
              <a:t>je </a:t>
            </a:r>
            <a:r>
              <a:rPr lang="en-US" sz="2400" dirty="0" err="1"/>
              <a:t>centrom</a:t>
            </a:r>
            <a:r>
              <a:rPr lang="en-US" sz="2400" dirty="0"/>
              <a:t> </a:t>
            </a:r>
            <a:r>
              <a:rPr lang="en-US" sz="2400" dirty="0" err="1"/>
              <a:t>nášho</a:t>
            </a:r>
            <a:r>
              <a:rPr lang="en-US" sz="2400" dirty="0"/>
              <a:t> </a:t>
            </a:r>
            <a:r>
              <a:rPr lang="en-US" sz="2400" dirty="0" err="1"/>
              <a:t>modelu</a:t>
            </a:r>
            <a:r>
              <a:rPr lang="en-US" sz="2400" dirty="0"/>
              <a:t>, </a:t>
            </a:r>
            <a:r>
              <a:rPr lang="en-US" sz="2400" dirty="0" err="1"/>
              <a:t>kde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nachádzajú</a:t>
            </a:r>
            <a:r>
              <a:rPr lang="en-US" sz="2400" dirty="0"/>
              <a:t> </a:t>
            </a:r>
            <a:r>
              <a:rPr lang="en-US" sz="2400" dirty="0" err="1"/>
              <a:t>metriky</a:t>
            </a:r>
            <a:r>
              <a:rPr lang="en-US" sz="2400" dirty="0"/>
              <a:t>. (Fact Table)</a:t>
            </a:r>
          </a:p>
          <a:p>
            <a:r>
              <a:rPr lang="en-US" sz="2400" u="sng" dirty="0"/>
              <a:t>(</a:t>
            </a:r>
            <a:r>
              <a:rPr lang="en-US" sz="2400" u="sng" dirty="0" err="1"/>
              <a:t>dim_geo</a:t>
            </a:r>
            <a:r>
              <a:rPr lang="en-US" sz="2400" u="sng" dirty="0"/>
              <a:t>): </a:t>
            </a:r>
            <a:r>
              <a:rPr lang="en-US" sz="2400" dirty="0"/>
              <a:t>Geografia</a:t>
            </a:r>
          </a:p>
          <a:p>
            <a:r>
              <a:rPr lang="ru-RU" sz="2400" u="sng" dirty="0"/>
              <a:t>(</a:t>
            </a:r>
            <a:r>
              <a:rPr lang="en-US" sz="2400" u="sng" dirty="0" err="1"/>
              <a:t>dim_date</a:t>
            </a:r>
            <a:r>
              <a:rPr lang="ru-RU" sz="2400" u="sng" dirty="0"/>
              <a:t>)</a:t>
            </a:r>
            <a:r>
              <a:rPr lang="en-US" sz="2400" dirty="0"/>
              <a:t>: </a:t>
            </a:r>
            <a:r>
              <a:rPr lang="en-US" sz="2400" dirty="0" err="1"/>
              <a:t>Kalendár</a:t>
            </a:r>
            <a:endParaRPr lang="ru-RU" sz="2400" dirty="0"/>
          </a:p>
          <a:p>
            <a:r>
              <a:rPr lang="en-US" sz="2400" u="sng" dirty="0"/>
              <a:t>(</a:t>
            </a:r>
            <a:r>
              <a:rPr lang="en-US" sz="2400" u="sng" dirty="0" err="1"/>
              <a:t>dim_bank_details</a:t>
            </a:r>
            <a:r>
              <a:rPr lang="en-US" sz="2400" u="sng" dirty="0"/>
              <a:t>): </a:t>
            </a:r>
            <a:r>
              <a:rPr lang="pl-PL" sz="2400" dirty="0"/>
              <a:t>Obsahuje aktuálne informácie o bankách.</a:t>
            </a: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9226F1-5372-5F50-D8B0-C2D96F429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4" t="14530" r="4983" b="7180"/>
          <a:stretch>
            <a:fillRect/>
          </a:stretch>
        </p:blipFill>
        <p:spPr bwMode="auto">
          <a:xfrm>
            <a:off x="5352888" y="1518777"/>
            <a:ext cx="6665261" cy="410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89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EF8D-AFE3-FE83-A1A4-38F19A2E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</a:t>
            </a:r>
            <a:r>
              <a:rPr lang="en-US" dirty="0" err="1"/>
              <a:t>Proces</a:t>
            </a:r>
            <a:r>
              <a:rPr lang="en-US" dirty="0"/>
              <a:t>: Staging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AC6E-7567-8427-CAC8-25F3C6F63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787" y="2601712"/>
            <a:ext cx="4578470" cy="4351338"/>
          </a:xfrm>
        </p:spPr>
        <p:txBody>
          <a:bodyPr>
            <a:normAutofit/>
          </a:bodyPr>
          <a:lstStyle/>
          <a:p>
            <a:r>
              <a:rPr lang="en-US" sz="2400" dirty="0" err="1"/>
              <a:t>Prvá</a:t>
            </a:r>
            <a:r>
              <a:rPr lang="en-US" sz="2400" dirty="0"/>
              <a:t> </a:t>
            </a:r>
            <a:r>
              <a:rPr lang="en-US" sz="2400" dirty="0" err="1"/>
              <a:t>fáza</a:t>
            </a:r>
            <a:r>
              <a:rPr lang="en-US" sz="2400" dirty="0"/>
              <a:t> – Staging. Tu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vyskytol</a:t>
            </a:r>
            <a:r>
              <a:rPr lang="en-US" sz="2400" dirty="0"/>
              <a:t> </a:t>
            </a:r>
            <a:r>
              <a:rPr lang="en-US" sz="2400" dirty="0" err="1"/>
              <a:t>problém</a:t>
            </a:r>
            <a:r>
              <a:rPr lang="en-US" sz="2400" dirty="0"/>
              <a:t> s „</a:t>
            </a:r>
            <a:r>
              <a:rPr lang="en-US" sz="2400" dirty="0" err="1"/>
              <a:t>nečistými</a:t>
            </a:r>
            <a:r>
              <a:rPr lang="en-US" sz="2400" dirty="0"/>
              <a:t> </a:t>
            </a:r>
            <a:r>
              <a:rPr lang="en-US" sz="2400" dirty="0" err="1"/>
              <a:t>údajmi</a:t>
            </a:r>
            <a:r>
              <a:rPr lang="en-US" sz="2400" dirty="0"/>
              <a:t>“. Na </a:t>
            </a:r>
            <a:r>
              <a:rPr lang="en-US" sz="2400" dirty="0" err="1"/>
              <a:t>zabránenie</a:t>
            </a:r>
            <a:r>
              <a:rPr lang="en-US" sz="2400" dirty="0"/>
              <a:t> </a:t>
            </a:r>
            <a:r>
              <a:rPr lang="en-US" sz="2400" dirty="0" err="1"/>
              <a:t>chýb</a:t>
            </a:r>
            <a:r>
              <a:rPr lang="en-US" sz="2400" dirty="0"/>
              <a:t> bola </a:t>
            </a:r>
            <a:r>
              <a:rPr lang="en-US" sz="2400" dirty="0" err="1"/>
              <a:t>použitá</a:t>
            </a:r>
            <a:r>
              <a:rPr lang="en-US" sz="2400" dirty="0"/>
              <a:t> </a:t>
            </a:r>
            <a:r>
              <a:rPr lang="en-US" sz="2400" dirty="0" err="1"/>
              <a:t>funkcia</a:t>
            </a:r>
            <a:r>
              <a:rPr lang="en-US" sz="2400" dirty="0"/>
              <a:t> TRY_TO_NUMBER pre </a:t>
            </a:r>
            <a:r>
              <a:rPr lang="en-US" sz="2400" dirty="0" err="1"/>
              <a:t>stĺpec</a:t>
            </a:r>
            <a:r>
              <a:rPr lang="en-US" sz="2400" dirty="0"/>
              <a:t> ADDRESS v </a:t>
            </a:r>
            <a:r>
              <a:rPr lang="en-US" sz="2400" dirty="0" err="1"/>
              <a:t>bloku</a:t>
            </a:r>
            <a:r>
              <a:rPr lang="en-US" sz="2400" dirty="0"/>
              <a:t> WHERE.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40FD4-724B-32E6-6032-4E883C76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201" y="1582017"/>
            <a:ext cx="6982799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8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1088E4-0AC3-961C-E03C-682CC7147744}"/>
              </a:ext>
            </a:extLst>
          </p:cNvPr>
          <p:cNvSpPr/>
          <p:nvPr/>
        </p:nvSpPr>
        <p:spPr>
          <a:xfrm>
            <a:off x="1" y="0"/>
            <a:ext cx="12192000" cy="14057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7E243-FE7C-6302-4A9F-DC7BD358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ELT </a:t>
            </a:r>
            <a:r>
              <a:rPr lang="en-US" dirty="0" err="1"/>
              <a:t>Proces</a:t>
            </a:r>
            <a:r>
              <a:rPr lang="en-US" dirty="0"/>
              <a:t>: Transform &amp; Window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9547E-997D-6845-3C5C-65200D65F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316" y="1532112"/>
            <a:ext cx="509336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1. </a:t>
            </a:r>
            <a:r>
              <a:rPr lang="en-US" sz="2000" b="1" dirty="0" err="1"/>
              <a:t>Normalizácia</a:t>
            </a:r>
            <a:r>
              <a:rPr lang="en-US" sz="2000" b="1" dirty="0"/>
              <a:t> (SELECT DISTINCT)</a:t>
            </a:r>
            <a:endParaRPr lang="uk-UA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E36CB-F84B-2795-DCF5-C5F8C590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75" y="1902068"/>
            <a:ext cx="5793650" cy="1262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19D36-2DED-53F3-4CCD-740F3C191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783" y="3639729"/>
            <a:ext cx="6846434" cy="992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88CAF-8CA7-9DFE-FECD-85DB9B19C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002" y="5100221"/>
            <a:ext cx="6159996" cy="1518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B87FAD-D7BD-F8E0-5C0F-1ADEF95BECE2}"/>
              </a:ext>
            </a:extLst>
          </p:cNvPr>
          <p:cNvSpPr txBox="1"/>
          <p:nvPr/>
        </p:nvSpPr>
        <p:spPr>
          <a:xfrm>
            <a:off x="3047499" y="3185999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/>
              <a:t>2. </a:t>
            </a:r>
            <a:r>
              <a:rPr lang="en-US" sz="1800" b="1" dirty="0" err="1"/>
              <a:t>Prepojenia</a:t>
            </a:r>
            <a:r>
              <a:rPr lang="en-US" sz="1800" b="1" dirty="0"/>
              <a:t> (JOIN)</a:t>
            </a:r>
            <a:endParaRPr lang="uk-UA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0EA784-9D56-EC8D-2FF9-6526B411A645}"/>
              </a:ext>
            </a:extLst>
          </p:cNvPr>
          <p:cNvSpPr txBox="1"/>
          <p:nvPr/>
        </p:nvSpPr>
        <p:spPr>
          <a:xfrm>
            <a:off x="3047499" y="4648021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3. Advanced Analytics (Window Functions)</a:t>
            </a:r>
          </a:p>
        </p:txBody>
      </p:sp>
    </p:spTree>
    <p:extLst>
      <p:ext uri="{BB962C8B-B14F-4D97-AF65-F5344CB8AC3E}">
        <p14:creationId xmlns:p14="http://schemas.microsoft.com/office/powerpoint/2010/main" val="233637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AE6A-BEEA-072D-BEFC-6E5A292D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Vizualizácia</a:t>
            </a:r>
            <a:r>
              <a:rPr lang="en-US" dirty="0"/>
              <a:t> a </a:t>
            </a:r>
            <a:r>
              <a:rPr lang="en-US" dirty="0" err="1"/>
              <a:t>analytika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DE6E9-5912-3E2C-2711-19CD486FD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97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 err="1"/>
              <a:t>Konečným</a:t>
            </a:r>
            <a:r>
              <a:rPr lang="en-US" sz="2000" dirty="0"/>
              <a:t> </a:t>
            </a:r>
            <a:r>
              <a:rPr lang="en-US" sz="2000" dirty="0" err="1"/>
              <a:t>výsledkom</a:t>
            </a:r>
            <a:r>
              <a:rPr lang="en-US" sz="2000" dirty="0"/>
              <a:t> je dashboard, </a:t>
            </a:r>
            <a:r>
              <a:rPr lang="en-US" sz="2000" dirty="0" err="1"/>
              <a:t>ktorý</a:t>
            </a:r>
            <a:r>
              <a:rPr lang="en-US" sz="2000" dirty="0"/>
              <a:t> </a:t>
            </a:r>
            <a:r>
              <a:rPr lang="en-US" sz="2000" dirty="0" err="1"/>
              <a:t>odpovedá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business </a:t>
            </a:r>
            <a:r>
              <a:rPr lang="en-US" sz="2000" dirty="0" err="1"/>
              <a:t>otázky</a:t>
            </a:r>
            <a:r>
              <a:rPr lang="en-US" sz="2000"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B660D34-6655-F246-0AF9-DD6B93A3D7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9" t="15006" b="6393"/>
          <a:stretch>
            <a:fillRect/>
          </a:stretch>
        </p:blipFill>
        <p:spPr bwMode="auto">
          <a:xfrm>
            <a:off x="507146" y="1959429"/>
            <a:ext cx="11177708" cy="466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34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108" name="Oval 4107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9" name="Oval 4108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0" name="Oval 4109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1" name="Oval 4110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2" name="Oval 4111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3" name="Oval 4112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7" name="Group 411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118" name="Straight Connector 411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Straight Connector 411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11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12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2BA79022-B89C-37F9-B135-F8887BCDB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673"/>
          <a:stretch>
            <a:fillRect/>
          </a:stretch>
        </p:blipFill>
        <p:spPr bwMode="auto">
          <a:xfrm>
            <a:off x="626590" y="317578"/>
            <a:ext cx="10851111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23" name="Group 4122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4124" name="Straight Connector 4123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Straight Connector 4124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125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Straight Connector 4126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29" name="Rectangle 41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31" name="Group 41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132" name="Straight Connector 41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1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1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Straight Connector 41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9BD45B-E630-90A3-D618-ADB1E80EE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108786" cy="2129586"/>
          </a:xfrm>
          <a:noFill/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Top 10 Richest Banks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C792-5DFF-51B0-79D9-90EF44F6C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546" y="4337101"/>
            <a:ext cx="7366639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Prebieha</a:t>
            </a:r>
            <a:r>
              <a:rPr lang="en-US" sz="2400" dirty="0">
                <a:solidFill>
                  <a:schemeClr val="bg1"/>
                </a:solidFill>
              </a:rPr>
              <a:t> JOIN </a:t>
            </a:r>
            <a:r>
              <a:rPr lang="en-US" sz="2400" dirty="0" err="1">
                <a:solidFill>
                  <a:schemeClr val="bg1"/>
                </a:solidFill>
              </a:rPr>
              <a:t>tabuľky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faktov</a:t>
            </a:r>
            <a:r>
              <a:rPr lang="en-US" sz="2400" dirty="0">
                <a:solidFill>
                  <a:schemeClr val="bg1"/>
                </a:solidFill>
              </a:rPr>
              <a:t> s </a:t>
            </a:r>
            <a:r>
              <a:rPr lang="en-US" sz="2400" dirty="0" err="1">
                <a:solidFill>
                  <a:schemeClr val="bg1"/>
                </a:solidFill>
              </a:rPr>
              <a:t>tabuľkou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bánk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zoskupenie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podľa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názvu</a:t>
            </a:r>
            <a:r>
              <a:rPr lang="en-US" sz="2400" dirty="0">
                <a:solidFill>
                  <a:schemeClr val="bg1"/>
                </a:solidFill>
              </a:rPr>
              <a:t> (GROUP BY name) a </a:t>
            </a:r>
            <a:r>
              <a:rPr lang="en-US" sz="2400" dirty="0" err="1">
                <a:solidFill>
                  <a:schemeClr val="bg1"/>
                </a:solidFill>
              </a:rPr>
              <a:t>triedenie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podľa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zostupnosti</a:t>
            </a:r>
            <a:r>
              <a:rPr lang="en-US" sz="2400" dirty="0">
                <a:solidFill>
                  <a:schemeClr val="bg1"/>
                </a:solidFill>
              </a:rPr>
              <a:t> (ORDER BY DESC). </a:t>
            </a:r>
            <a:r>
              <a:rPr lang="en-US" sz="2400" dirty="0" err="1">
                <a:solidFill>
                  <a:schemeClr val="bg1"/>
                </a:solidFill>
              </a:rPr>
              <a:t>Vidíme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že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lídrom</a:t>
            </a:r>
            <a:r>
              <a:rPr lang="en-US" sz="2400" dirty="0">
                <a:solidFill>
                  <a:schemeClr val="bg1"/>
                </a:solidFill>
              </a:rPr>
              <a:t> je JPMorgan Chase.</a:t>
            </a:r>
          </a:p>
        </p:txBody>
      </p:sp>
    </p:spTree>
    <p:extLst>
      <p:ext uri="{BB962C8B-B14F-4D97-AF65-F5344CB8AC3E}">
        <p14:creationId xmlns:p14="http://schemas.microsoft.com/office/powerpoint/2010/main" val="314001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811EB-2B0A-07BC-9D74-406FEA404D28}"/>
              </a:ext>
            </a:extLst>
          </p:cNvPr>
          <p:cNvSpPr txBox="1"/>
          <p:nvPr/>
        </p:nvSpPr>
        <p:spPr>
          <a:xfrm>
            <a:off x="3655979" y="998876"/>
            <a:ext cx="4877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Kód</a:t>
            </a:r>
            <a:r>
              <a:rPr lang="en-US" sz="2800" dirty="0"/>
              <a:t> pre:</a:t>
            </a:r>
            <a:r>
              <a:rPr lang="ru-RU" sz="2800" dirty="0"/>
              <a:t> </a:t>
            </a:r>
            <a:r>
              <a:rPr lang="en-US" sz="2800" dirty="0"/>
              <a:t>Top 10 Richest Banks</a:t>
            </a:r>
            <a:r>
              <a:rPr lang="ru-RU" sz="2800" dirty="0"/>
              <a:t> 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496BDA-BAEC-EAEA-664B-36C8C2010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3" y="2179020"/>
            <a:ext cx="11113995" cy="264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1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1" name="Group 5130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132" name="Oval 5131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3" name="Oval 5132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4" name="Oval 5133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5" name="Oval 5134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36" name="Oval 5135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7" name="Oval 5136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9" name="Rectangle 513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41" name="Group 514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142" name="Straight Connector 514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3" name="Straight Connector 5142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4" name="Straight Connector 514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5" name="Straight Connector 514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9BFBB098-31C7-2300-051B-2ED4F6E06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47" r="1" b="1"/>
          <a:stretch>
            <a:fillRect/>
          </a:stretch>
        </p:blipFill>
        <p:spPr bwMode="auto">
          <a:xfrm>
            <a:off x="626590" y="317578"/>
            <a:ext cx="10851111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7" name="Group 514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5148" name="Straight Connector 514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9" name="Straight Connector 514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0" name="Straight Connector 514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1" name="Straight Connector 515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53" name="Rectangle 5152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55" name="Group 515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156" name="Straight Connector 5155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7" name="Straight Connector 5156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8" name="Straight Connector 5157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9" name="Straight Connector 515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C74723-9CB6-31F3-335C-F920E2B35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3409430" cy="2129586"/>
          </a:xfrm>
          <a:noFill/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Assets and Deposits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123B-A311-9909-335E-6383A12C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366" y="4018143"/>
            <a:ext cx="7119819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Ukazuje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závislosť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 err="1">
                <a:solidFill>
                  <a:schemeClr val="bg1"/>
                </a:solidFill>
              </a:rPr>
              <a:t>čím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väčšia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banka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tým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viac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vkladov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  <a:r>
              <a:rPr lang="en-US" sz="2400" dirty="0" err="1">
                <a:solidFill>
                  <a:schemeClr val="bg1"/>
                </a:solidFill>
              </a:rPr>
              <a:t>Zaujímavý</a:t>
            </a:r>
            <a:r>
              <a:rPr lang="en-US" sz="2400" dirty="0">
                <a:solidFill>
                  <a:schemeClr val="bg1"/>
                </a:solidFill>
              </a:rPr>
              <a:t> moment v SQL: Pridal </a:t>
            </a:r>
            <a:r>
              <a:rPr lang="en-US" sz="2400" dirty="0" err="1">
                <a:solidFill>
                  <a:schemeClr val="bg1"/>
                </a:solidFill>
              </a:rPr>
              <a:t>som</a:t>
            </a:r>
            <a:r>
              <a:rPr lang="en-US" sz="2400" dirty="0">
                <a:solidFill>
                  <a:schemeClr val="bg1"/>
                </a:solidFill>
              </a:rPr>
              <a:t> filter HERE </a:t>
            </a:r>
            <a:r>
              <a:rPr lang="en-US" sz="2400" dirty="0" err="1">
                <a:solidFill>
                  <a:schemeClr val="bg1"/>
                </a:solidFill>
              </a:rPr>
              <a:t>total_assets</a:t>
            </a:r>
            <a:r>
              <a:rPr lang="en-US" sz="2400" dirty="0">
                <a:solidFill>
                  <a:schemeClr val="bg1"/>
                </a:solidFill>
              </a:rPr>
              <a:t> &lt; 100 000. Bolo to </a:t>
            </a:r>
            <a:r>
              <a:rPr lang="en-US" sz="2400" dirty="0" err="1">
                <a:solidFill>
                  <a:schemeClr val="bg1"/>
                </a:solidFill>
              </a:rPr>
              <a:t>potrebné</a:t>
            </a:r>
            <a:r>
              <a:rPr lang="en-US" sz="2400" dirty="0">
                <a:solidFill>
                  <a:schemeClr val="bg1"/>
                </a:solidFill>
              </a:rPr>
              <a:t>, aby </a:t>
            </a:r>
            <a:r>
              <a:rPr lang="en-US" sz="2400" dirty="0" err="1">
                <a:solidFill>
                  <a:schemeClr val="bg1"/>
                </a:solidFill>
              </a:rPr>
              <a:t>som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odstránil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veľké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banky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pretože</a:t>
            </a:r>
            <a:r>
              <a:rPr lang="en-US" sz="2400" dirty="0">
                <a:solidFill>
                  <a:schemeClr val="bg1"/>
                </a:solidFill>
              </a:rPr>
              <a:t> „</a:t>
            </a:r>
            <a:r>
              <a:rPr lang="en-US" sz="2400" dirty="0" err="1">
                <a:solidFill>
                  <a:schemeClr val="bg1"/>
                </a:solidFill>
              </a:rPr>
              <a:t>narúšajú</a:t>
            </a:r>
            <a:r>
              <a:rPr lang="en-US" sz="2400" dirty="0">
                <a:solidFill>
                  <a:schemeClr val="bg1"/>
                </a:solidFill>
              </a:rPr>
              <a:t>“ </a:t>
            </a:r>
            <a:r>
              <a:rPr lang="en-US" sz="2400" dirty="0" err="1">
                <a:solidFill>
                  <a:schemeClr val="bg1"/>
                </a:solidFill>
              </a:rPr>
              <a:t>mierku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grafu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3420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D4CF2-275D-8986-CD4E-796D48AB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A07C82-C8E8-F52E-A63B-41F4924C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83F72DC-CE91-3275-0D11-A3C7DDF92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C9D74C-A518-0948-FDDF-9136FD453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243C9F-086E-09F3-5DB9-018E365BA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F1935FD-496A-BD4A-6955-F7EF8B49D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AB5C44C-CC27-4872-FAD5-99E0782E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695B54-3DE4-6258-277F-BC34A405E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A33A3A0-8495-0647-88E1-440AB0DF8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C4492-64F3-A20C-26D4-992282DD1D0E}"/>
              </a:ext>
            </a:extLst>
          </p:cNvPr>
          <p:cNvSpPr txBox="1"/>
          <p:nvPr/>
        </p:nvSpPr>
        <p:spPr>
          <a:xfrm>
            <a:off x="3657319" y="629347"/>
            <a:ext cx="4877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Kód</a:t>
            </a:r>
            <a:r>
              <a:rPr lang="en-US" sz="2800" dirty="0"/>
              <a:t> pre:</a:t>
            </a:r>
            <a:r>
              <a:rPr lang="ru-RU" sz="2800" dirty="0"/>
              <a:t> </a:t>
            </a:r>
            <a:r>
              <a:rPr lang="en-US" sz="2800" dirty="0"/>
              <a:t>Top 10 Richest Banks</a:t>
            </a:r>
            <a:r>
              <a:rPr lang="ru-RU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0949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6" name="Rectangle 618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7" name="Rectangle 618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88" name="Group 6187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189" name="Oval 6188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0" name="Oval 6189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1" name="Oval 6190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2" name="Oval 6191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93" name="Oval 6192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4" name="Oval 6193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95" name="Rectangle 619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96" name="Group 619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7" name="Straight Connector 616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8" name="Straight Connector 616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9" name="Straight Connector 616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97" name="Rectangle 619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73" name="Group 617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174" name="Straight Connector 617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5" name="Straight Connector 617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6" name="Straight Connector 617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8" name="Straight Connector 619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B957D31-B09D-D4DA-E4F2-09E6ADA8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6" y="1254760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Bank system history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BF3CA88-032C-07BC-682E-11CB65531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3546" y="2906498"/>
            <a:ext cx="7506317" cy="32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99" name="Group 619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6180" name="Straight Connector 617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1" name="Straight Connector 618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2" name="Straight Connector 618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3" name="Straight Connector 618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85" name="Oval 618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D11B2-79F7-E277-F7A2-36161F725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46" y="1971274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Tu </a:t>
            </a:r>
            <a:r>
              <a:rPr lang="en-US" sz="1800" dirty="0" err="1">
                <a:solidFill>
                  <a:schemeClr val="bg1"/>
                </a:solidFill>
              </a:rPr>
              <a:t>sa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používa</a:t>
            </a:r>
            <a:r>
              <a:rPr lang="en-US" sz="1800" dirty="0">
                <a:solidFill>
                  <a:schemeClr val="bg1"/>
                </a:solidFill>
              </a:rPr>
              <a:t> DIM_DATE. </a:t>
            </a:r>
            <a:r>
              <a:rPr lang="en-US" sz="1800" dirty="0" err="1">
                <a:solidFill>
                  <a:schemeClr val="bg1"/>
                </a:solidFill>
              </a:rPr>
              <a:t>Skupinujeme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počet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nových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bánk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podľa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rokov</a:t>
            </a:r>
            <a:r>
              <a:rPr lang="en-US" sz="1800" dirty="0">
                <a:solidFill>
                  <a:schemeClr val="bg1"/>
                </a:solidFill>
              </a:rPr>
              <a:t> (GROUP BY year). </a:t>
            </a:r>
            <a:r>
              <a:rPr lang="en-US" sz="1800" dirty="0" err="1">
                <a:solidFill>
                  <a:schemeClr val="bg1"/>
                </a:solidFill>
              </a:rPr>
              <a:t>Vrcholy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grafe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jasne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zodpovedajú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historickým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hospodárskym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boomom</a:t>
            </a:r>
            <a:r>
              <a:rPr lang="en-US" sz="1800" dirty="0">
                <a:solidFill>
                  <a:schemeClr val="bg1"/>
                </a:solidFill>
              </a:rPr>
              <a:t> v USA pred </a:t>
            </a:r>
            <a:r>
              <a:rPr lang="en-US" sz="1800" dirty="0" err="1">
                <a:solidFill>
                  <a:schemeClr val="bg1"/>
                </a:solidFill>
              </a:rPr>
              <a:t>krízami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909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095F7-FEF4-45E6-82A9-6276F60B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517DCD-4984-64CA-F67D-FD5CC575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22ACFC4-CD66-B013-B7C3-788C1C021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37774A-16F0-0EC1-3209-3A3C12E42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A071B-9B8C-B7A3-4063-560A8F3AC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DD54FD-8545-D27C-E2A0-CA4E3B5CF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F38E3B7-AAD6-37F4-D461-720611F05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33C512-5F7F-5155-A97C-4F6236A0F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32F595B-F473-4E0D-61D7-9111C071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448FD-8F96-8830-8163-CC1B26D3D19B}"/>
              </a:ext>
            </a:extLst>
          </p:cNvPr>
          <p:cNvSpPr txBox="1"/>
          <p:nvPr/>
        </p:nvSpPr>
        <p:spPr>
          <a:xfrm>
            <a:off x="3657319" y="629347"/>
            <a:ext cx="4877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Kód</a:t>
            </a:r>
            <a:r>
              <a:rPr lang="en-US" sz="2800" dirty="0"/>
              <a:t> pre:</a:t>
            </a:r>
            <a:r>
              <a:rPr lang="ru-RU" sz="2800" dirty="0"/>
              <a:t> </a:t>
            </a:r>
            <a:r>
              <a:rPr lang="en-US" sz="2800" dirty="0"/>
              <a:t>Top 10 Richest Banks</a:t>
            </a:r>
            <a:r>
              <a:rPr lang="ru-RU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3253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79" name="Group 7178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7180" name="Oval 7179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1" name="Oval 7180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2" name="Oval 7181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3" name="Oval 7182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84" name="Oval 7183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5" name="Oval 7184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87" name="Rectangle 718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89" name="Group 718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190" name="Straight Connector 718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1" name="Straight Connector 719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2" name="Straight Connector 719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3" name="Straight Connector 719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0E823FED-3B39-E864-07F1-F7B1634C6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599"/>
          <a:stretch>
            <a:fillRect/>
          </a:stretch>
        </p:blipFill>
        <p:spPr bwMode="auto">
          <a:xfrm>
            <a:off x="626590" y="317578"/>
            <a:ext cx="10851111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95" name="Group 7194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7196" name="Straight Connector 7195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7" name="Straight Connector 7196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8" name="Straight Connector 7197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9" name="Straight Connector 7198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01" name="Rectangle 720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03" name="Group 720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204" name="Straight Connector 720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5" name="Straight Connector 720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6" name="Straight Connector 720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7" name="Straight Connector 720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E39C64-5472-4576-9397-7BE6BFE7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Geografická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dirty="0" err="1">
                <a:solidFill>
                  <a:schemeClr val="bg1"/>
                </a:solidFill>
              </a:rPr>
              <a:t>analýza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D25E-B1EC-75A9-5BD4-BE48271D4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565" y="4210246"/>
            <a:ext cx="5674105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Graf </a:t>
            </a:r>
            <a:r>
              <a:rPr lang="en-US" sz="2400" dirty="0" err="1">
                <a:solidFill>
                  <a:schemeClr val="bg1"/>
                </a:solidFill>
              </a:rPr>
              <a:t>zobrazuje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priemernú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veľkosť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banky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podľa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štátu</a:t>
            </a:r>
            <a:r>
              <a:rPr lang="en-US" sz="2400" dirty="0">
                <a:solidFill>
                  <a:schemeClr val="bg1"/>
                </a:solidFill>
              </a:rPr>
              <a:t>. SQL </a:t>
            </a:r>
            <a:r>
              <a:rPr lang="en-US" sz="2400" dirty="0" err="1">
                <a:solidFill>
                  <a:schemeClr val="bg1"/>
                </a:solidFill>
              </a:rPr>
              <a:t>dopyt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používa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jednoduchú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agregáciu</a:t>
            </a:r>
            <a:r>
              <a:rPr lang="en-US" sz="2400" dirty="0">
                <a:solidFill>
                  <a:schemeClr val="bg1"/>
                </a:solidFill>
              </a:rPr>
              <a:t> AVG(</a:t>
            </a:r>
            <a:r>
              <a:rPr lang="en-US" sz="2400" dirty="0" err="1">
                <a:solidFill>
                  <a:schemeClr val="bg1"/>
                </a:solidFill>
              </a:rPr>
              <a:t>total_assets</a:t>
            </a:r>
            <a:r>
              <a:rPr lang="en-US" sz="2400" dirty="0">
                <a:solidFill>
                  <a:schemeClr val="bg1"/>
                </a:solidFill>
              </a:rPr>
              <a:t>). </a:t>
            </a:r>
            <a:r>
              <a:rPr lang="en-US" sz="2400" dirty="0" err="1">
                <a:solidFill>
                  <a:schemeClr val="bg1"/>
                </a:solidFill>
              </a:rPr>
              <a:t>Lídrami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sú</a:t>
            </a:r>
            <a:r>
              <a:rPr lang="uk-UA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známe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korporátne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finančné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centrá</a:t>
            </a:r>
            <a:r>
              <a:rPr lang="en-US" sz="2400" dirty="0">
                <a:solidFill>
                  <a:schemeClr val="bg1"/>
                </a:solidFill>
              </a:rPr>
              <a:t> USA.</a:t>
            </a:r>
          </a:p>
        </p:txBody>
      </p:sp>
    </p:spTree>
    <p:extLst>
      <p:ext uri="{BB962C8B-B14F-4D97-AF65-F5344CB8AC3E}">
        <p14:creationId xmlns:p14="http://schemas.microsoft.com/office/powerpoint/2010/main" val="393987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C2365-318E-BBFA-778B-2221B7D7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DE3229-981B-D287-4E2E-1DA2522D2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B2E338-4686-DFB4-1865-B84111E7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B92FAB-C115-4852-3BA5-25A2414EE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0F72D-211B-54A3-B086-BED4667CC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D3EA9-B099-1206-9F85-5082B4523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BFEF41E-3920-4EE2-3078-2C75F813F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CEECB0E-D5AB-93FC-820E-A96CFD4AA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5998D-D65F-41B2-3AEF-DCE9E062096E}"/>
              </a:ext>
            </a:extLst>
          </p:cNvPr>
          <p:cNvSpPr txBox="1"/>
          <p:nvPr/>
        </p:nvSpPr>
        <p:spPr>
          <a:xfrm>
            <a:off x="3568948" y="957617"/>
            <a:ext cx="53091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Kód</a:t>
            </a:r>
            <a:r>
              <a:rPr lang="en-US" sz="2800" dirty="0"/>
              <a:t> pre</a:t>
            </a:r>
            <a:r>
              <a:rPr lang="ru-RU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:</a:t>
            </a:r>
            <a:r>
              <a:rPr lang="ru-RU" sz="2800" dirty="0"/>
              <a:t> </a:t>
            </a:r>
            <a:r>
              <a:rPr lang="en-US" sz="2800" dirty="0" err="1"/>
              <a:t>Geografická</a:t>
            </a:r>
            <a:r>
              <a:rPr lang="en-US" sz="2800" dirty="0"/>
              <a:t> </a:t>
            </a:r>
            <a:r>
              <a:rPr lang="en-US" sz="2800" dirty="0" err="1"/>
              <a:t>analýza</a:t>
            </a:r>
            <a:endParaRPr lang="en-US" sz="2800" dirty="0"/>
          </a:p>
          <a:p>
            <a:pPr algn="ctr"/>
            <a:r>
              <a:rPr lang="en-US" sz="2800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DD453-0EF8-9752-90CB-15AAA051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945" y="2179020"/>
            <a:ext cx="10065153" cy="277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7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03" name="Group 820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8204" name="Oval 820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5" name="Oval 820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6" name="Oval 820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7" name="Oval 820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08" name="Oval 820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9" name="Oval 820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11" name="Rectangle 821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13" name="Group 821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8214" name="Straight Connector 821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5" name="Straight Connector 821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6" name="Straight Connector 821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7" name="Straight Connector 821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54508D3E-FEED-1528-421B-A868833B4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7749"/>
          <a:stretch>
            <a:fillRect/>
          </a:stretch>
        </p:blipFill>
        <p:spPr bwMode="auto">
          <a:xfrm>
            <a:off x="626590" y="317578"/>
            <a:ext cx="10851111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19" name="Group 821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8220" name="Straight Connector 821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1" name="Straight Connector 822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2" name="Straight Connector 822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3" name="Straight Connector 822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25" name="Rectangle 822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27" name="Group 822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228" name="Straight Connector 822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9" name="Straight Connector 822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0" name="Straight Connector 822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1" name="Straight Connector 823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F7307C-3F50-9059-822E-503E986F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Finance map of 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A34C8-7DC9-81CA-CA4E-EA8CE394B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296" y="4550726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Tento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graf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zobrazuje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celkové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aktíva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podľa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jednotlivých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štátov</a:t>
            </a:r>
            <a:r>
              <a:rPr lang="en-US" sz="2400" dirty="0">
                <a:solidFill>
                  <a:schemeClr val="bg1"/>
                </a:solidFill>
              </a:rPr>
              <a:t>. SQL </a:t>
            </a:r>
            <a:r>
              <a:rPr lang="en-US" sz="2400" dirty="0" err="1">
                <a:solidFill>
                  <a:schemeClr val="bg1"/>
                </a:solidFill>
              </a:rPr>
              <a:t>logika</a:t>
            </a:r>
            <a:r>
              <a:rPr lang="en-US" sz="2400" dirty="0">
                <a:solidFill>
                  <a:schemeClr val="bg1"/>
                </a:solidFill>
              </a:rPr>
              <a:t>: Tu </a:t>
            </a:r>
            <a:r>
              <a:rPr lang="en-US" sz="2400" dirty="0" err="1">
                <a:solidFill>
                  <a:schemeClr val="bg1"/>
                </a:solidFill>
              </a:rPr>
              <a:t>funguje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jednoduchý</a:t>
            </a:r>
            <a:r>
              <a:rPr lang="en-US" sz="2400" dirty="0">
                <a:solidFill>
                  <a:schemeClr val="bg1"/>
                </a:solidFill>
              </a:rPr>
              <a:t> SUM(</a:t>
            </a:r>
            <a:r>
              <a:rPr lang="en-US" sz="2400" dirty="0" err="1">
                <a:solidFill>
                  <a:schemeClr val="bg1"/>
                </a:solidFill>
              </a:rPr>
              <a:t>total_assets</a:t>
            </a:r>
            <a:r>
              <a:rPr lang="en-US" sz="2400" dirty="0">
                <a:solidFill>
                  <a:schemeClr val="bg1"/>
                </a:solidFill>
              </a:rPr>
              <a:t>) s </a:t>
            </a:r>
            <a:r>
              <a:rPr lang="en-US" sz="2400" dirty="0" err="1">
                <a:solidFill>
                  <a:schemeClr val="bg1"/>
                </a:solidFill>
              </a:rPr>
              <a:t>zoskupovaniem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podľa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state_code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5418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0DABA-0DFA-3DBA-98F8-5C947569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DF26FA-95C0-8B7D-1657-6F03C16EF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D49CAD-8A71-1994-9694-B6B185F2A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3E0B29-E2A9-928B-6629-2EC040E38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26F85-E052-B7C6-C45D-31D5317E0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83F9AB-774A-9CF8-C6B8-A91EFBE3A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8C49172-5654-A730-8A60-0769F4AD0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11BE952-E3B4-E4CF-5525-EDCA0282C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63940-AF6F-4B47-BB73-5F0ADEDEFC91}"/>
              </a:ext>
            </a:extLst>
          </p:cNvPr>
          <p:cNvSpPr txBox="1"/>
          <p:nvPr/>
        </p:nvSpPr>
        <p:spPr>
          <a:xfrm>
            <a:off x="3657318" y="856053"/>
            <a:ext cx="465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Kód</a:t>
            </a:r>
            <a:r>
              <a:rPr lang="en-US" sz="2800" dirty="0"/>
              <a:t> pre:</a:t>
            </a:r>
            <a:r>
              <a:rPr lang="ru-RU" sz="2800" dirty="0"/>
              <a:t> </a:t>
            </a:r>
            <a:r>
              <a:rPr lang="en-US" sz="2800" dirty="0"/>
              <a:t>Finance map of USA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F3AC8-AAD5-3C67-7CEE-0988CCB09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213" y="1713934"/>
            <a:ext cx="9407572" cy="383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4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408</Words>
  <Application>Microsoft Office PowerPoint</Application>
  <PresentationFormat>Widescreen</PresentationFormat>
  <Paragraphs>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Analysis of US Banking  Projekt ELT v Snowflake</vt:lpstr>
      <vt:lpstr>Data Source &amp; ERD</vt:lpstr>
      <vt:lpstr>ERD vizualizácia stiahnutých údajov</vt:lpstr>
      <vt:lpstr>Star Schema</vt:lpstr>
      <vt:lpstr>ELT Proces: Staging</vt:lpstr>
      <vt:lpstr>ELT Proces: Transform &amp; Window Functions</vt:lpstr>
      <vt:lpstr>Vizualizácia a analytika</vt:lpstr>
      <vt:lpstr>Top 10 Richest Banks</vt:lpstr>
      <vt:lpstr>PowerPoint Presentation</vt:lpstr>
      <vt:lpstr>Assets and Deposits Correlation</vt:lpstr>
      <vt:lpstr>PowerPoint Presentation</vt:lpstr>
      <vt:lpstr>Bank system history</vt:lpstr>
      <vt:lpstr>PowerPoint Presentation</vt:lpstr>
      <vt:lpstr>Geografická analýza</vt:lpstr>
      <vt:lpstr>PowerPoint Presentation</vt:lpstr>
      <vt:lpstr>Finance map of USA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Zaet</dc:creator>
  <cp:lastModifiedBy>Max Zaet</cp:lastModifiedBy>
  <cp:revision>1</cp:revision>
  <dcterms:created xsi:type="dcterms:W3CDTF">2026-01-19T17:48:29Z</dcterms:created>
  <dcterms:modified xsi:type="dcterms:W3CDTF">2026-01-19T22:10:07Z</dcterms:modified>
</cp:coreProperties>
</file>